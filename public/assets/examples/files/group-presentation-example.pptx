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2468880"/>
            <a:ext cx="3200400" cy="45720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74320"/>
            <a:ext cx="164592" cy="164592"/>
          </a:xfrm>
          <a:prstGeom prst="ellipse">
            <a:avLst/>
          </a:prstGeom>
          <a:solidFill>
            <a:srgbClr val="8899B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274320"/>
            <a:ext cx="164592" cy="164592"/>
          </a:xfrm>
          <a:prstGeom prst="ellipse">
            <a:avLst/>
          </a:prstGeom>
          <a:solidFill>
            <a:srgbClr val="8899B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274320"/>
            <a:ext cx="164592" cy="164592"/>
          </a:xfrm>
          <a:prstGeom prst="ellipse">
            <a:avLst/>
          </a:prstGeom>
          <a:solidFill>
            <a:srgbClr val="56CC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274320"/>
            <a:ext cx="164592" cy="164592"/>
          </a:xfrm>
          <a:prstGeom prst="ellipse">
            <a:avLst/>
          </a:prstGeom>
          <a:solidFill>
            <a:srgbClr val="8899B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274320"/>
            <a:ext cx="164592" cy="164592"/>
          </a:xfrm>
          <a:prstGeom prst="ellipse">
            <a:avLst/>
          </a:prstGeom>
          <a:solidFill>
            <a:srgbClr val="8899B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6CC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工程伦理学 · 期末课题汇报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人工智能发展中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004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CC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遇到的伦理问题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004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Challenges in the Age of Artificial Intelligence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" y="477316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2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课题小组  ·  工程伦理学  ·  2025学年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  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0" y="274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1508760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441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90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8013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22128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AI技术爆发与工程伦理的必要性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73152" cy="1508760"/>
          </a:xfrm>
          <a:prstGeom prst="rect">
            <a:avLst/>
          </a:prstGeom>
          <a:solidFill>
            <a:srgbClr val="E8C66A"/>
          </a:solidFill>
          <a:ln w="12700">
            <a:solidFill>
              <a:srgbClr val="E8C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3441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19472" y="18013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伦理问题现状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19472" y="22128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四大突出伦理议题与真实案例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73152" cy="150876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1729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30352" y="36301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伦理问题成因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" y="4041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技术、社会、法律与个体的多维剖析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63240"/>
            <a:ext cx="73152" cy="150876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1729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B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919472" y="36301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伦理问题解决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19472" y="4041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技术改进、法规完善与工程师责任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4572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>
                    <a:alpha val="1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97280" cy="54864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56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9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AI技术爆发与工程伦理视角的必要性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研究背景（1/2）：从技术跃迁到社会矛盾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9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技术发展的历史跨度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16736"/>
            <a:ext cx="3840480" cy="27432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08760"/>
            <a:ext cx="182880" cy="182880"/>
          </a:xfrm>
          <a:prstGeom prst="ellipse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1691640"/>
            <a:ext cx="18288" cy="694944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72184"/>
            <a:ext cx="658368" cy="237744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721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1950s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1472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理论萌芽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746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图灵提出「机器能否思考」，AI概念诞生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03704"/>
            <a:ext cx="182880" cy="182880"/>
          </a:xfrm>
          <a:prstGeom prst="ellipse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2386584"/>
            <a:ext cx="18288" cy="694944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167128"/>
            <a:ext cx="658368" cy="237744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671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1980s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21671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专家系统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441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规则驱动的AI进入工业与医疗领域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182880" cy="182880"/>
          </a:xfrm>
          <a:prstGeom prst="ellipse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" y="3081528"/>
            <a:ext cx="18288" cy="694944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862072"/>
            <a:ext cx="658368" cy="237744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8620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25880" y="2862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深度学习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136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AlexNet突破ImageNet，神经网络时代开启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593592"/>
            <a:ext cx="182880" cy="182880"/>
          </a:xfrm>
          <a:prstGeom prst="ellipse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" y="3776472"/>
            <a:ext cx="18288" cy="694944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557016"/>
            <a:ext cx="658368" cy="237744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5570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25880" y="35570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超越人类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8313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AlphaGo击败世界冠军，AI能力引发全球震动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288536"/>
            <a:ext cx="182880" cy="182880"/>
          </a:xfrm>
          <a:prstGeom prst="ellipse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251960"/>
            <a:ext cx="658368" cy="237744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2519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2022+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25880" y="42519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生成式AI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ChatGPT亿级用户，AI从工具变为协作者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C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带来的社会矛盾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1316736"/>
            <a:ext cx="3840480" cy="2743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1444752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19472" y="1536192"/>
            <a:ext cx="822960" cy="23774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1536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效率提升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79008" y="153619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08192" y="1536192"/>
            <a:ext cx="822960" cy="23774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08192" y="1536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就业冲击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19472" y="1847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麦肯锡预测：2030年前全球约3亿个工作岗位将受AI自动化影响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23317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919472" y="2423160"/>
            <a:ext cx="822960" cy="23774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2423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个性化服务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779008" y="242316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08192" y="2423160"/>
            <a:ext cx="822960" cy="23774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08192" y="2423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隐私侵蚀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19472" y="27340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推荐算法在精准服务的同时，持续收集和分析用户的行为数据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3218688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919472" y="3310128"/>
            <a:ext cx="822960" cy="23774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472" y="3310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辅助决策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779008" y="3310128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08192" y="3310128"/>
            <a:ext cx="822960" cy="23774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08192" y="3310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责任模糊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19472" y="3621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当AI参与医疗诊断、贷款审批等决策，出错后责任归属难以界定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46320" y="4105656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919472" y="4197096"/>
            <a:ext cx="822960" cy="23774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9472" y="4197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信息民主化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779008" y="4197096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08192" y="4197096"/>
            <a:ext cx="822960" cy="23774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08192" y="4197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虚假泛滥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919472" y="4507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生成式AI让内容创作门槛趋近于零，同时使虚假信息规模化成为可能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研究背景（2/2）：为什么工科生必须学习工程伦理？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640080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56CC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工程师写下的每一行代码，都可能成为影响千万人的「社会规则」。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20040" y="1856232"/>
            <a:ext cx="658368" cy="658368"/>
          </a:xfrm>
          <a:prstGeom prst="ellipse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56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15568" y="1783080"/>
            <a:ext cx="7726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15568" y="1783080"/>
            <a:ext cx="64008" cy="932688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1847088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工程师是伦理风险的「第一道关口」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216712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算法的设计目标、训练数据的选取、模型的部署范围——这些决定在代码上线前就已做出。工程师是唯一能在技术诞生之初就介入并纠偏的人。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907792"/>
            <a:ext cx="658368" cy="658368"/>
          </a:xfrm>
          <a:prstGeom prst="ellipse">
            <a:avLst/>
          </a:prstGeom>
          <a:solidFill>
            <a:srgbClr val="E8C66A"/>
          </a:solidFill>
          <a:ln w="12700">
            <a:solidFill>
              <a:srgbClr val="E8C6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9077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15568" y="2834640"/>
            <a:ext cx="7726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15568" y="2834640"/>
            <a:ext cx="64008" cy="932688"/>
          </a:xfrm>
          <a:prstGeom prst="rect">
            <a:avLst/>
          </a:prstGeom>
          <a:solidFill>
            <a:srgbClr val="E8C66A"/>
          </a:solidFill>
          <a:ln w="12700">
            <a:solidFill>
              <a:srgbClr val="E8C6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2898648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技术能力越强，潜在影响越大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321868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一个普通人的偏见影响有限；但工程师将偏见写入系统，可能同时影响数百万次决策。这种「规模效应」要求工程师具备与能力相匹配的伦理自觉。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959352"/>
            <a:ext cx="658368" cy="6583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959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15568" y="3886200"/>
            <a:ext cx="7726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15568" y="3886200"/>
            <a:ext cx="64008" cy="932688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3950208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「我只是执行命令」不是免责理由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61872" y="427024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挑战者号航天飞机事故告诉我们：在明知存在风险时选择沉默，与主动造成伤害在道德上并无本质区别。职业责任要求工程师具备独立判断的勇气。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学习工程伦理，不是为了限制创新，而是让创新走得更远、站得更稳。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0" y="2743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>
                    <a:alpha val="1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97280" cy="54864"/>
          </a:xfrm>
          <a:prstGeom prst="rect">
            <a:avLst/>
          </a:prstGeom>
          <a:solidFill>
            <a:srgbClr val="E8C66A"/>
          </a:solidFill>
          <a:ln w="12700">
            <a:solidFill>
              <a:srgbClr val="E8C6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E8C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伦理问题现状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9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四大突出伦理议题与真实案例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伦理问题 · 上篇  |  算法偏见与隐私泄露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E8C66A"/>
          </a:solidFill>
          <a:ln w="12700">
            <a:solidFill>
              <a:srgbClr val="E8C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509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⚖  算法偏见（Algorithmic Bias）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6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922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训练数据中历史偏见被模型学习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并放大，导致不公正输出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2221992"/>
            <a:ext cx="3749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6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典型案例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Amazon招聘AI（2018）：简历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筛选算法系统性歧视女性候选人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971800"/>
            <a:ext cx="3749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358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6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另一案例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2918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美国COMPAS系统：对黑人被告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再犯罪风险预测偏高约2倍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721608"/>
            <a:ext cx="3749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856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6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危害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0416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加剧社会不平等，侵害被歧视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群体的公平权利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9509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🔒  隐私泄露（Privacy Breach）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5361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9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7922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AI系统在数据收集、训练及推断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过程中侵犯用户隐私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8032" y="2221992"/>
            <a:ext cx="3749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9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典型案例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5420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剑桥分析事件（2018）：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8700万Facebook用户数据遭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滥用于政治定向广告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2971800"/>
            <a:ext cx="3749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0358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9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另一案例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2918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ChatGPT意大利被临时禁用（2023）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：无法证明合规数据处理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28032" y="3721608"/>
            <a:ext cx="3749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7856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9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危害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40416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用户丧失数据自主权，可能遭受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精准操控、歧视或人身威胁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伦理问题 · 下篇  |  自动驾驶责任归属与深度伪造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509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🚗  自动驾驶的伦理困境与责任归属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电车难题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紧急情境下算法须在「牺牲乘客」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与「伤害行人」之间做出抉择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——这由谁来编程决定？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203704"/>
            <a:ext cx="3749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86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真实事故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Uber自动驾驶汽车（2018年·亚利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桑那州）：致行人死亡，全球首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例致命自动驾驶事故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980944"/>
            <a:ext cx="3749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63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责任归属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310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事故责任归属至今无定论：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车企 / 软件开发者 / 用户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监管机构 各执一词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758184"/>
            <a:ext cx="3749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40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核心矛盾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087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道德决策的算法化：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伦理价值的量化与代码化是否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在根本上是可行的？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9509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🎭  深度伪造（Deepfake）与信息失真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15087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755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利用AI生成逼真的虚假视频、音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频或图像，难以与真实内容区分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28032" y="2203704"/>
            <a:ext cx="3749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2860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典型案例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政客Deepfake视频（2024年）被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广泛传播，干扰多国选举进程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980944"/>
            <a:ext cx="3749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063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另一案例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310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AI生成色情内容非法传播，受害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者以普通公众居多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28032" y="3758184"/>
            <a:ext cx="3749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840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危害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4087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侵害名誉权与肖像权、污染信息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生态、动摇社会信任基础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0" y="27432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>
                    <a:alpha val="1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9728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伦理问题成因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9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技术、社会、法律与个体的多维深度剖析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伦理问题成因 — 四维剖析框架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技术本身的局限性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算法黑盒（Black Box）：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深度神经网络内部不可解释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920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数据偏见：训练数据反映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人类社会的历史不平等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23774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优化目标单一：仅最大化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准确率，忽视公平性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160520" cy="438912"/>
          </a:xfrm>
          <a:prstGeom prst="rect">
            <a:avLst/>
          </a:prstGeom>
          <a:solidFill>
            <a:srgbClr val="E8C66A"/>
          </a:solidFill>
          <a:ln w="12700">
            <a:solidFill>
              <a:srgbClr val="E8C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社会与资本驱动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73752" y="14630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【先发展，后治理】的商业逻辑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73752" y="1920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资本追求速度与利润，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伦理考量被边缘化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73752" y="23774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科技公司缺乏外部监督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与问责机制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0088"/>
            <a:ext cx="4160520" cy="43891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35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法律法规的滞后性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8912" y="3493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立法周期（数年）远滞后于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技术迭代速度（数月）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" y="3950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跨境AI应用的司法管辖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权模糊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44074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现有法律框架难以界定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AI的【法律人格】与责任主体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90088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90088"/>
            <a:ext cx="4160520" cy="438912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035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工程师个体的局限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73752" y="3493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伦理教育缺位：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工程教育重技术、轻人文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73752" y="3950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组织压力：执行上级指令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难以独立做出伦理判断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73752" y="44074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技术自大：相信【技术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中立】的错误假设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1A"/>
          </a:solidFill>
          <a:ln w="12700">
            <a:solidFill>
              <a:srgbClr val="0D1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0" y="27432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>
                    <a:alpha val="1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97280" cy="5486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伦理问题解决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9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多维度对策：技术 · 法规 · 规范 · 职业操守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 · 上篇  |  技术改进 × 法律法规完善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🔬  技术层面的改进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536192"/>
            <a:ext cx="182880" cy="182880"/>
          </a:xfrm>
          <a:prstGeom prst="ellipse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9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可解释性AI（XAI）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647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开发可解释的模型（LIME、SHAP），使AI决策过程透明可审查，非专业用户也能理解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331720"/>
            <a:ext cx="182880" cy="182880"/>
          </a:xfrm>
          <a:prstGeom prst="ellipse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9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公平性约束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在模型训练阶段引入公平性指标（Fairness Metrics），主动检测并纠正偏见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127248"/>
            <a:ext cx="182880" cy="182880"/>
          </a:xfrm>
          <a:prstGeom prst="ellipse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99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9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差分隐私技术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558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在数据处理阶段注入数学噪声，保证个体隐私不因统计分析而泄露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922776"/>
            <a:ext cx="182880" cy="182880"/>
          </a:xfrm>
          <a:prstGeom prst="ellipse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90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对抗性检测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1513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开发Deepfake检测模型与内容水印技术，从技术端遏制虚假信息传播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60120"/>
            <a:ext cx="4206240" cy="4572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⚖  法律法规的完善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73168" y="1536192"/>
            <a:ext cx="182880" cy="18288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B8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EU AI Act（2024）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7647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全球首部综合性AI法规：依据风险等级分类监管，高风险AI须通过强制合规审查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2331720"/>
            <a:ext cx="182880" cy="18288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B8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中国《生成式AI服务管理暂行办法》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5603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2023年施行，要求数据合规、内容审核，确立算法透明度义务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3127248"/>
            <a:ext cx="182880" cy="18288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099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B8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强化数据主权立法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3558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完善个人数据权利体系（知情权、删除权、可携带权），提高违规成本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3922776"/>
            <a:ext cx="182880" cy="18288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895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B8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建立AI事故强制报告制度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41513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参照航空事故调查机制，建立AI安全事故报告与溯源机制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 · 下篇  |  行业规范 × 工程师职业操守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E8C66A"/>
          </a:solidFill>
          <a:ln w="12700">
            <a:solidFill>
              <a:srgbClr val="E8C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🏢  行业规范的建立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536192"/>
            <a:ext cx="182880" cy="182880"/>
          </a:xfrm>
          <a:prstGeom prst="ellipse">
            <a:avLst/>
          </a:prstGeom>
          <a:solidFill>
            <a:srgbClr val="E8C66A"/>
          </a:solidFill>
          <a:ln w="12700">
            <a:solidFill>
              <a:srgbClr val="E8C6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AI伦理委员会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647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在科技企业内部设立独立的伦理审查委员会，引入外部专家与公民代表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331720"/>
            <a:ext cx="182880" cy="182880"/>
          </a:xfrm>
          <a:prstGeom prst="ellipse">
            <a:avLst/>
          </a:prstGeom>
          <a:solidFill>
            <a:srgbClr val="E8C66A"/>
          </a:solidFill>
          <a:ln w="12700">
            <a:solidFill>
              <a:srgbClr val="E8C6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伦理影响评估（EIA）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类比环境影响评估，要求高风险AI项目在部署前进行伦理影响评估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127248"/>
            <a:ext cx="182880" cy="182880"/>
          </a:xfrm>
          <a:prstGeom prst="ellipse">
            <a:avLst/>
          </a:prstGeom>
          <a:solidFill>
            <a:srgbClr val="E8C66A"/>
          </a:solidFill>
          <a:ln w="12700">
            <a:solidFill>
              <a:srgbClr val="E8C6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99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行业自律公约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558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参照IEEE Ethically Aligned Design，建立行业伦理准则与最佳实践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922776"/>
            <a:ext cx="182880" cy="182880"/>
          </a:xfrm>
          <a:prstGeom prst="ellipse">
            <a:avLst/>
          </a:prstGeom>
          <a:solidFill>
            <a:srgbClr val="E8C66A"/>
          </a:solidFill>
          <a:ln w="12700">
            <a:solidFill>
              <a:srgbClr val="E8C6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多利益方参与机制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1513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纳入用户、社区代表参与AI系统的设计与评估，防止技术精英主义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60120"/>
            <a:ext cx="4206240" cy="457200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👷  未来工程师的职业操守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36592" y="1481328"/>
            <a:ext cx="4005072" cy="749808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517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CC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公众利益优先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28032" y="17922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将公众安全、健康与福祉置于技术利益之上，这是工程师的首要责任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36592" y="2304288"/>
            <a:ext cx="4005072" cy="749808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340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CC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保持伦理敏感性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28032" y="26151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在技术决策中主动识别潜在伦理风险，而非等待问题暴露后被动应对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36592" y="3127248"/>
            <a:ext cx="4005072" cy="749808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163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CC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勇于发声（Whistleblowing）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28032" y="3438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当组织行为违背公众利益时，有责任向适当机构报告并承担后果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3950208"/>
            <a:ext cx="4005072" cy="749808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986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CC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终身学习与跨学科协作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28032" y="4261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主动学习伦理学、社会学、法学知识，与非技术背景专家合作共决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多维协同治理框架 — 一图总览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383280" y="1828800"/>
            <a:ext cx="2377440" cy="1645920"/>
          </a:xfrm>
          <a:prstGeom prst="ellipse">
            <a:avLst/>
          </a:prstGeom>
          <a:solidFill>
            <a:srgbClr val="1A1F3C"/>
          </a:solidFill>
          <a:ln w="12700">
            <a:solidFill>
              <a:srgbClr val="4E90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0" y="20574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AI伦理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治理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（核心）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651760" cy="1371600"/>
          </a:xfrm>
          <a:prstGeom prst="rect">
            <a:avLst/>
          </a:prstGeom>
          <a:solidFill>
            <a:srgbClr val="4E90D4"/>
          </a:solidFill>
          <a:ln w="12700">
            <a:solidFill>
              <a:srgbClr val="4E90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技术层面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5361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XAI · 公平算法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差分隐私 · 检测技术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097280"/>
            <a:ext cx="2651760" cy="13716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36792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法律层面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36792" y="15361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EU AI Act · 数据主权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问责机制 · 风险分级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3200400"/>
            <a:ext cx="2651760" cy="1371600"/>
          </a:xfrm>
          <a:prstGeom prst="rect">
            <a:avLst/>
          </a:prstGeom>
          <a:solidFill>
            <a:srgbClr val="E8C66A"/>
          </a:solidFill>
          <a:ln w="12700">
            <a:solidFill>
              <a:srgbClr val="E8C6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行业层面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" y="36393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伦理委员会 · EIA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行业公约 · 多方参与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3200400"/>
            <a:ext cx="2651760" cy="1371600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36792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个体层面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36792" y="36393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伦理操守 · 勇于发声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跨学科能力 · 终身学习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899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四个维度相互支撑、缺一不可，共同构成可持续的AI伦理治理生态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56CC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  语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36576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技术是中性的，但工程师的决策从不中性。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65760" y="21396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2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AI的价值边界，由每一位参与其设计与部署的工程人员共同划定。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706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2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作为未来的工程师，我们肩负着一项超越技术本身的责任：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32735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EF2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让技术真正服务于人，而非凌驾于人。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6CC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  ·  欢迎提问与交流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" y="477316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工程伦理学课题小组  ·  2025学年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人工智能发展中遇到的伦理问题</dc:title>
  <dc:subject>PptxGenJS Presentation</dc:subject>
  <dc:creator>工程伦理学课题小组</dc:creator>
  <cp:lastModifiedBy>工程伦理学课题小组</cp:lastModifiedBy>
  <cp:revision>1</cp:revision>
  <dcterms:created xsi:type="dcterms:W3CDTF">2026-05-23T15:19:44Z</dcterms:created>
  <dcterms:modified xsi:type="dcterms:W3CDTF">2026-05-23T15:19:44Z</dcterms:modified>
</cp:coreProperties>
</file>